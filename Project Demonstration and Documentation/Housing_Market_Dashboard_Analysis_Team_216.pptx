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4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embeddedFontLst>
    <p:embeddedFont>
      <p:font typeface="Crimson Text" panose="020B0604020202020204" charset="0"/>
      <p:regular r:id="rId17"/>
      <p:bold r:id="rId18"/>
      <p:italic r:id="rId19"/>
      <p:boldItalic r:id="rId20"/>
    </p:embeddedFont>
    <p:embeddedFont>
      <p:font typeface="Lato" panose="020F0502020204030203" pitchFamily="34" charset="0"/>
      <p:regular r:id="rId21"/>
      <p:bold r:id="rId22"/>
      <p:italic r:id="rId23"/>
      <p:boldItalic r:id="rId24"/>
    </p:embeddedFont>
    <p:embeddedFont>
      <p:font typeface="Montserrat" panose="00000500000000000000" pitchFamily="2" charset="0"/>
      <p:regular r:id="rId25"/>
      <p:bold r:id="rId26"/>
      <p:italic r:id="rId27"/>
      <p:boldItalic r:id="rId28"/>
    </p:embeddedFont>
    <p:embeddedFont>
      <p:font typeface="Verdana" panose="020B0604030504040204" pitchFamily="34" charset="0"/>
      <p:regular r:id="rId29"/>
      <p:bold r:id="rId30"/>
      <p:italic r:id="rId31"/>
      <p:boldItalic r:id="rId32"/>
    </p:embeddedFont>
    <p:embeddedFont>
      <p:font typeface="Vidaloka" panose="020B0604020202020204" charset="0"/>
      <p:regular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6C2CB52-6FC4-4C0A-B5C6-2DD447F4C950}">
  <a:tblStyle styleId="{16C2CB52-6FC4-4C0A-B5C6-2DD447F4C95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98" d="100"/>
          <a:sy n="98" d="100"/>
        </p:scale>
        <p:origin x="752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21" Type="http://schemas.openxmlformats.org/officeDocument/2006/relationships/font" Target="fonts/font5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6687859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cc7554a049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cc7554a049_0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cf7a3c503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cf7a3c503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6c89fe974b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6c89fe974b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05aad17dc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05aad17dc0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cd8a80d6bc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cd8a80d6bc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6c89fe974b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6c89fe974b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6c89fe974b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36c89fe974b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6c89fe974b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36c89fe974b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105aad17dc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105aad17dc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cd8a80d6b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cd8a80d6b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105aad17dc0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105aad17dc0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6c89fe974b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36c89fe974b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6c89fe974b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36c89fe974b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39975" y="1324500"/>
            <a:ext cx="70641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40000" y="3377100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-257975" y="-72550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;p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4;p2"/>
          <p:cNvCxnSpPr/>
          <p:nvPr/>
        </p:nvCxnSpPr>
        <p:spPr>
          <a:xfrm flipH="1">
            <a:off x="6467450" y="3935375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9pPr>
          </a:lstStyle>
          <a:p>
            <a:endParaRPr/>
          </a:p>
        </p:txBody>
      </p:sp>
      <p:cxnSp>
        <p:nvCxnSpPr>
          <p:cNvPr id="26" name="Google Shape;26;p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" name="Google Shape;27;p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" name="Google Shape;28;p4"/>
          <p:cNvCxnSpPr/>
          <p:nvPr/>
        </p:nvCxnSpPr>
        <p:spPr>
          <a:xfrm>
            <a:off x="6884900" y="-113600"/>
            <a:ext cx="2565600" cy="1306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subTitle" idx="1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57" name="Google Shape;57;p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58;p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59;p9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35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"/>
          </p:nvPr>
        </p:nvSpPr>
        <p:spPr>
          <a:xfrm>
            <a:off x="5001000" y="1942925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2"/>
          </p:nvPr>
        </p:nvSpPr>
        <p:spPr>
          <a:xfrm>
            <a:off x="5001000" y="2255100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3"/>
          </p:nvPr>
        </p:nvSpPr>
        <p:spPr>
          <a:xfrm>
            <a:off x="1655200" y="1942925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4"/>
          </p:nvPr>
        </p:nvSpPr>
        <p:spPr>
          <a:xfrm>
            <a:off x="1655200" y="2255100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5"/>
          </p:nvPr>
        </p:nvSpPr>
        <p:spPr>
          <a:xfrm>
            <a:off x="5001000" y="3723950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6"/>
          </p:nvPr>
        </p:nvSpPr>
        <p:spPr>
          <a:xfrm>
            <a:off x="5001000" y="4036125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7"/>
          </p:nvPr>
        </p:nvSpPr>
        <p:spPr>
          <a:xfrm>
            <a:off x="1655200" y="3723950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8"/>
          </p:nvPr>
        </p:nvSpPr>
        <p:spPr>
          <a:xfrm>
            <a:off x="1655250" y="4036125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9" hasCustomPrompt="1"/>
          </p:nvPr>
        </p:nvSpPr>
        <p:spPr>
          <a:xfrm>
            <a:off x="2378650" y="130358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13" hasCustomPrompt="1"/>
          </p:nvPr>
        </p:nvSpPr>
        <p:spPr>
          <a:xfrm>
            <a:off x="5724450" y="130358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14" hasCustomPrompt="1"/>
          </p:nvPr>
        </p:nvSpPr>
        <p:spPr>
          <a:xfrm>
            <a:off x="2378700" y="308273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15" hasCustomPrompt="1"/>
          </p:nvPr>
        </p:nvSpPr>
        <p:spPr>
          <a:xfrm>
            <a:off x="5724450" y="308273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cxnSp>
        <p:nvCxnSpPr>
          <p:cNvPr id="87" name="Google Shape;87;p1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" name="Google Shape;88;p1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CUSTOM_1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7200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title" idx="2" hasCustomPrompt="1"/>
          </p:nvPr>
        </p:nvSpPr>
        <p:spPr>
          <a:xfrm>
            <a:off x="14826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2" name="Google Shape;92;p14"/>
          <p:cNvSpPr txBox="1">
            <a:spLocks noGrp="1"/>
          </p:cNvSpPr>
          <p:nvPr>
            <p:ph type="subTitle" idx="1"/>
          </p:nvPr>
        </p:nvSpPr>
        <p:spPr>
          <a:xfrm>
            <a:off x="720000" y="2081199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title" idx="3"/>
          </p:nvPr>
        </p:nvSpPr>
        <p:spPr>
          <a:xfrm>
            <a:off x="34038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title" idx="4" hasCustomPrompt="1"/>
          </p:nvPr>
        </p:nvSpPr>
        <p:spPr>
          <a:xfrm>
            <a:off x="41664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5" name="Google Shape;95;p14"/>
          <p:cNvSpPr txBox="1">
            <a:spLocks noGrp="1"/>
          </p:cNvSpPr>
          <p:nvPr>
            <p:ph type="subTitle" idx="5"/>
          </p:nvPr>
        </p:nvSpPr>
        <p:spPr>
          <a:xfrm>
            <a:off x="3403800" y="2081208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title" idx="6"/>
          </p:nvPr>
        </p:nvSpPr>
        <p:spPr>
          <a:xfrm>
            <a:off x="60876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title" idx="7" hasCustomPrompt="1"/>
          </p:nvPr>
        </p:nvSpPr>
        <p:spPr>
          <a:xfrm>
            <a:off x="68502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8" name="Google Shape;98;p14"/>
          <p:cNvSpPr txBox="1">
            <a:spLocks noGrp="1"/>
          </p:cNvSpPr>
          <p:nvPr>
            <p:ph type="subTitle" idx="8"/>
          </p:nvPr>
        </p:nvSpPr>
        <p:spPr>
          <a:xfrm>
            <a:off x="6087600" y="2081208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title" idx="9"/>
          </p:nvPr>
        </p:nvSpPr>
        <p:spPr>
          <a:xfrm>
            <a:off x="7200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title" idx="13" hasCustomPrompt="1"/>
          </p:nvPr>
        </p:nvSpPr>
        <p:spPr>
          <a:xfrm>
            <a:off x="14826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1" name="Google Shape;101;p14"/>
          <p:cNvSpPr txBox="1">
            <a:spLocks noGrp="1"/>
          </p:cNvSpPr>
          <p:nvPr>
            <p:ph type="subTitle" idx="14"/>
          </p:nvPr>
        </p:nvSpPr>
        <p:spPr>
          <a:xfrm>
            <a:off x="720000" y="37058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title" idx="15"/>
          </p:nvPr>
        </p:nvSpPr>
        <p:spPr>
          <a:xfrm>
            <a:off x="34038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title" idx="16" hasCustomPrompt="1"/>
          </p:nvPr>
        </p:nvSpPr>
        <p:spPr>
          <a:xfrm>
            <a:off x="41664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4" name="Google Shape;104;p14"/>
          <p:cNvSpPr txBox="1">
            <a:spLocks noGrp="1"/>
          </p:cNvSpPr>
          <p:nvPr>
            <p:ph type="subTitle" idx="17"/>
          </p:nvPr>
        </p:nvSpPr>
        <p:spPr>
          <a:xfrm>
            <a:off x="3403800" y="37058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title" idx="18"/>
          </p:nvPr>
        </p:nvSpPr>
        <p:spPr>
          <a:xfrm>
            <a:off x="60876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title" idx="19" hasCustomPrompt="1"/>
          </p:nvPr>
        </p:nvSpPr>
        <p:spPr>
          <a:xfrm>
            <a:off x="68502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7" name="Google Shape;107;p14"/>
          <p:cNvSpPr txBox="1">
            <a:spLocks noGrp="1"/>
          </p:cNvSpPr>
          <p:nvPr>
            <p:ph type="subTitle" idx="20"/>
          </p:nvPr>
        </p:nvSpPr>
        <p:spPr>
          <a:xfrm>
            <a:off x="6087600" y="37058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4"/>
          <p:cNvSpPr txBox="1">
            <a:spLocks noGrp="1"/>
          </p:cNvSpPr>
          <p:nvPr>
            <p:ph type="title" idx="21"/>
          </p:nvPr>
        </p:nvSpPr>
        <p:spPr>
          <a:xfrm>
            <a:off x="2332400" y="445025"/>
            <a:ext cx="4479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09" name="Google Shape;109;p1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" name="Google Shape;110;p1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" name="Google Shape;111;p1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" name="Google Shape;112;p1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2410500" y="280825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subTitle" idx="1"/>
          </p:nvPr>
        </p:nvSpPr>
        <p:spPr>
          <a:xfrm>
            <a:off x="1842900" y="1661963"/>
            <a:ext cx="54582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16" name="Google Shape;116;p1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" name="Google Shape;117;p1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CUSTOM_1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699900" y="282126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>
            <a:endParaRPr/>
          </a:p>
        </p:txBody>
      </p:sp>
      <p:sp>
        <p:nvSpPr>
          <p:cNvPr id="120" name="Google Shape;120;p16"/>
          <p:cNvSpPr txBox="1">
            <a:spLocks noGrp="1"/>
          </p:cNvSpPr>
          <p:nvPr>
            <p:ph type="subTitle" idx="1"/>
          </p:nvPr>
        </p:nvSpPr>
        <p:spPr>
          <a:xfrm>
            <a:off x="699900" y="1675902"/>
            <a:ext cx="54582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21" name="Google Shape;121;p1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" name="Google Shape;122;p1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" name="Google Shape;123;p16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" name="Google Shape;124;p16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>
            <a:spLocks noGrp="1"/>
          </p:cNvSpPr>
          <p:nvPr>
            <p:ph type="subTitle" idx="1"/>
          </p:nvPr>
        </p:nvSpPr>
        <p:spPr>
          <a:xfrm>
            <a:off x="264840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7"/>
          <p:cNvSpPr txBox="1">
            <a:spLocks noGrp="1"/>
          </p:cNvSpPr>
          <p:nvPr>
            <p:ph type="title"/>
          </p:nvPr>
        </p:nvSpPr>
        <p:spPr>
          <a:xfrm>
            <a:off x="1732050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28" name="Google Shape;128;p1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" name="Google Shape;129;p1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" name="Google Shape;130;p17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" name="Google Shape;131;p17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SECTION_TITLE_AND_DESCRIPTION_1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>
            <a:spLocks noGrp="1"/>
          </p:cNvSpPr>
          <p:nvPr>
            <p:ph type="subTitle" idx="1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1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35" name="Google Shape;135;p1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" name="Google Shape;136;p1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7" name="Google Shape;137;p18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6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6" name="Google Shape;166;p2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7" name="Google Shape;167;p2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8" name="Google Shape;168;p23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169;p23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170;p23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171;p23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2" name="Google Shape;172;p2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CUSTOM_20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 txBox="1">
            <a:spLocks noGrp="1"/>
          </p:cNvSpPr>
          <p:nvPr>
            <p:ph type="title"/>
          </p:nvPr>
        </p:nvSpPr>
        <p:spPr>
          <a:xfrm>
            <a:off x="4373850" y="944250"/>
            <a:ext cx="4009500" cy="64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7" name="Google Shape;207;p28"/>
          <p:cNvSpPr txBox="1">
            <a:spLocks noGrp="1"/>
          </p:cNvSpPr>
          <p:nvPr>
            <p:ph type="title" idx="2" hasCustomPrompt="1"/>
          </p:nvPr>
        </p:nvSpPr>
        <p:spPr>
          <a:xfrm>
            <a:off x="2294850" y="1096650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9pPr>
          </a:lstStyle>
          <a:p>
            <a:r>
              <a:t>xx%</a:t>
            </a:r>
          </a:p>
        </p:txBody>
      </p:sp>
      <p:sp>
        <p:nvSpPr>
          <p:cNvPr id="208" name="Google Shape;208;p28"/>
          <p:cNvSpPr txBox="1">
            <a:spLocks noGrp="1"/>
          </p:cNvSpPr>
          <p:nvPr>
            <p:ph type="subTitle" idx="1"/>
          </p:nvPr>
        </p:nvSpPr>
        <p:spPr>
          <a:xfrm>
            <a:off x="4373850" y="1593150"/>
            <a:ext cx="2475300" cy="62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209" name="Google Shape;209;p2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0" name="Google Shape;210;p2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1" name="Google Shape;211;p28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2" name="Google Shape;212;p28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3" name="Google Shape;213;p28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4" name="Google Shape;214;p28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6" name="Google Shape;456;p5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7" name="Google Shape;457;p5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9" name="Google Shape;459;p5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0" name="Google Shape;460;p5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1" name="Google Shape;461;p52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2" name="Google Shape;462;p52"/>
          <p:cNvCxnSpPr/>
          <p:nvPr/>
        </p:nvCxnSpPr>
        <p:spPr>
          <a:xfrm>
            <a:off x="-147275" y="3943475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0_1_1"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4" name="Google Shape;464;p5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0"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8" name="Google Shape;468;p5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9" name="Google Shape;469;p5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0" name="Google Shape;470;p5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1" name="Google Shape;471;p5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2" name="Google Shape;472;p54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3" name="Google Shape;473;p54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5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9" r:id="rId11"/>
    <p:sldLayoutId id="2147483674" r:id="rId12"/>
    <p:sldLayoutId id="2147483697" r:id="rId13"/>
    <p:sldLayoutId id="2147483698" r:id="rId14"/>
    <p:sldLayoutId id="2147483699" r:id="rId15"/>
    <p:sldLayoutId id="2147483700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0"/>
          <p:cNvSpPr txBox="1">
            <a:spLocks noGrp="1"/>
          </p:cNvSpPr>
          <p:nvPr>
            <p:ph type="ctrTitle"/>
          </p:nvPr>
        </p:nvSpPr>
        <p:spPr>
          <a:xfrm>
            <a:off x="401600" y="556625"/>
            <a:ext cx="8654700" cy="179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b="1" u="sng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Project Title</a:t>
            </a:r>
            <a:endParaRPr sz="3000" b="1" u="sng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 dirty="0">
                <a:latin typeface="Arial"/>
                <a:ea typeface="Arial"/>
                <a:cs typeface="Arial"/>
                <a:sym typeface="Arial"/>
              </a:rPr>
              <a:t>             Visualizing Housing Market Trends:</a:t>
            </a:r>
            <a:endParaRPr sz="25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 dirty="0">
                <a:latin typeface="Arial"/>
                <a:ea typeface="Arial"/>
                <a:cs typeface="Arial"/>
                <a:sym typeface="Arial"/>
              </a:rPr>
              <a:t> An Analysis of Sale Prices and Features using Tableau</a:t>
            </a:r>
            <a:endParaRPr sz="25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60"/>
          <p:cNvSpPr txBox="1">
            <a:spLocks noGrp="1"/>
          </p:cNvSpPr>
          <p:nvPr>
            <p:ph type="subTitle" idx="1"/>
          </p:nvPr>
        </p:nvSpPr>
        <p:spPr>
          <a:xfrm>
            <a:off x="922550" y="2520075"/>
            <a:ext cx="5538600" cy="146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 dirty="0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Team ID :</a:t>
            </a:r>
            <a:r>
              <a:rPr lang="en" sz="1200" dirty="0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216</a:t>
            </a:r>
            <a:endParaRPr sz="1200" dirty="0">
              <a:solidFill>
                <a:srgbClr val="22222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 dirty="0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Team Size :</a:t>
            </a:r>
            <a:r>
              <a:rPr lang="en" sz="1200" dirty="0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2</a:t>
            </a:r>
            <a:endParaRPr sz="1200" dirty="0">
              <a:solidFill>
                <a:srgbClr val="22222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 dirty="0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Team Leader :</a:t>
            </a:r>
            <a:r>
              <a:rPr lang="en" sz="1200" dirty="0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Utkarsh Sahu 0103CS231444</a:t>
            </a:r>
            <a:endParaRPr sz="1200" dirty="0">
              <a:solidFill>
                <a:srgbClr val="22222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>
              <a:lnSpc>
                <a:spcPct val="115000"/>
              </a:lnSpc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" sz="1200" b="1" dirty="0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Team member :</a:t>
            </a:r>
            <a:r>
              <a:rPr lang="en" sz="1200" dirty="0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Vidisha Singh </a:t>
            </a:r>
            <a:r>
              <a:rPr lang="en-US" sz="1200" dirty="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0157CY231151</a:t>
            </a:r>
            <a:endParaRPr sz="1000" dirty="0">
              <a:solidFill>
                <a:srgbClr val="222222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2154300" cy="56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Arial"/>
                <a:ea typeface="Arial"/>
                <a:cs typeface="Arial"/>
                <a:sym typeface="Arial"/>
              </a:rPr>
              <a:t>Objective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61"/>
          <p:cNvSpPr txBox="1">
            <a:spLocks noGrp="1"/>
          </p:cNvSpPr>
          <p:nvPr>
            <p:ph type="body" idx="1"/>
          </p:nvPr>
        </p:nvSpPr>
        <p:spPr>
          <a:xfrm>
            <a:off x="713225" y="1108525"/>
            <a:ext cx="8073000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analyze housing data and visualize trends such as house prices, age, and renovation impact using Tableau, enabling data-driven decision-making for stakeholders like real estate analysts and executives.</a:t>
            </a:r>
            <a:endParaRPr sz="15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 Used</a:t>
            </a:r>
            <a:endParaRPr sz="2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indent="-323850">
              <a:lnSpc>
                <a:spcPct val="115000"/>
              </a:lnSpc>
              <a:spcBef>
                <a:spcPts val="1200"/>
              </a:spcBef>
              <a:buSzPts val="1500"/>
              <a:buFont typeface="Arial"/>
              <a:buChar char="●"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Source:</a:t>
            </a:r>
            <a:r>
              <a:rPr lang="e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Transformed_Housing_Data2</a:t>
            </a:r>
            <a:r>
              <a:rPr lang="e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.csv </a:t>
            </a:r>
            <a:r>
              <a:rPr lang="en-US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https://www.kaggle.com/datasets/rituparnaghosh18/transformed-housing-data-2	</a:t>
            </a:r>
            <a:endParaRPr sz="15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Size:</a:t>
            </a:r>
            <a:r>
              <a:rPr lang="e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21,610 Rows * 31 Columns</a:t>
            </a:r>
          </a:p>
          <a:p>
            <a:pPr indent="-323850">
              <a:lnSpc>
                <a:spcPct val="115000"/>
              </a:lnSpc>
              <a:buSzPts val="1500"/>
              <a:buFont typeface="Arial"/>
              <a:buChar char="●"/>
            </a:pPr>
            <a:r>
              <a:rPr lang="en-US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Attributes:</a:t>
            </a:r>
            <a:r>
              <a:rPr lang="en-US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Includes price, bedrooms, bathrooms, floors, condition, renovation year, square footage, and more</a:t>
            </a:r>
            <a: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5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2"/>
          <p:cNvSpPr txBox="1"/>
          <p:nvPr/>
        </p:nvSpPr>
        <p:spPr>
          <a:xfrm>
            <a:off x="448600" y="415725"/>
            <a:ext cx="3863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Data Flow Diagrams</a:t>
            </a:r>
            <a:endParaRPr sz="2600"/>
          </a:p>
        </p:txBody>
      </p:sp>
      <p:pic>
        <p:nvPicPr>
          <p:cNvPr id="501" name="Google Shape;501;p62" title="DFD_Level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875" y="1538300"/>
            <a:ext cx="7598074" cy="2066925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62"/>
          <p:cNvSpPr txBox="1"/>
          <p:nvPr/>
        </p:nvSpPr>
        <p:spPr>
          <a:xfrm>
            <a:off x="613000" y="1009125"/>
            <a:ext cx="2043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/>
              <a:t>DFD Level 0:</a:t>
            </a:r>
            <a:endParaRPr sz="1600" u="sng"/>
          </a:p>
        </p:txBody>
      </p:sp>
      <p:sp>
        <p:nvSpPr>
          <p:cNvPr id="503" name="Google Shape;503;p62"/>
          <p:cNvSpPr txBox="1"/>
          <p:nvPr/>
        </p:nvSpPr>
        <p:spPr>
          <a:xfrm>
            <a:off x="448600" y="3897325"/>
            <a:ext cx="8384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DFD Level 0 shows a high-level overview of the system where the User uploads housing data, the system processes it, and the End User views the visualized dashboard output.</a:t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63"/>
          <p:cNvSpPr txBox="1"/>
          <p:nvPr/>
        </p:nvSpPr>
        <p:spPr>
          <a:xfrm>
            <a:off x="234850" y="48147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DFD Level 1: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509" name="Google Shape;509;p63" title="DFD_Level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9600" y="806900"/>
            <a:ext cx="7022399" cy="3331375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63"/>
          <p:cNvSpPr txBox="1"/>
          <p:nvPr/>
        </p:nvSpPr>
        <p:spPr>
          <a:xfrm>
            <a:off x="354650" y="4138275"/>
            <a:ext cx="8443500" cy="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DFD Level 1 details the step-by-step flow from data upload to cleaning, visualization, dashboard creation, testing, and publishing for end-user access.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64"/>
          <p:cNvSpPr txBox="1"/>
          <p:nvPr/>
        </p:nvSpPr>
        <p:spPr>
          <a:xfrm>
            <a:off x="375775" y="797075"/>
            <a:ext cx="36546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 dirty="0">
                <a:solidFill>
                  <a:schemeClr val="dk1"/>
                </a:solidFill>
              </a:rPr>
              <a:t>Data Preparation</a:t>
            </a:r>
            <a:endParaRPr sz="2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dirty="0"/>
          </a:p>
        </p:txBody>
      </p:sp>
      <p:sp>
        <p:nvSpPr>
          <p:cNvPr id="516" name="Google Shape;516;p64"/>
          <p:cNvSpPr txBox="1"/>
          <p:nvPr/>
        </p:nvSpPr>
        <p:spPr>
          <a:xfrm>
            <a:off x="0" y="797075"/>
            <a:ext cx="51693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  <p:sp>
        <p:nvSpPr>
          <p:cNvPr id="517" name="Google Shape;517;p64"/>
          <p:cNvSpPr txBox="1"/>
          <p:nvPr/>
        </p:nvSpPr>
        <p:spPr>
          <a:xfrm>
            <a:off x="894825" y="1566525"/>
            <a:ext cx="7034100" cy="22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❖"/>
            </a:pPr>
            <a:r>
              <a:rPr lang="en" sz="1500" dirty="0">
                <a:solidFill>
                  <a:schemeClr val="dk1"/>
                </a:solidFill>
              </a:rPr>
              <a:t>Cleaned the dataset by removing </a:t>
            </a:r>
            <a:r>
              <a:rPr lang="en" sz="1500" b="1" dirty="0">
                <a:solidFill>
                  <a:schemeClr val="dk1"/>
                </a:solidFill>
              </a:rPr>
              <a:t>null values</a:t>
            </a:r>
            <a:r>
              <a:rPr lang="en" sz="1500" dirty="0">
                <a:solidFill>
                  <a:schemeClr val="dk1"/>
                </a:solidFill>
              </a:rPr>
              <a:t> and </a:t>
            </a:r>
            <a:r>
              <a:rPr lang="en" sz="1500" b="1" dirty="0">
                <a:solidFill>
                  <a:schemeClr val="dk1"/>
                </a:solidFill>
              </a:rPr>
              <a:t>duplicates</a:t>
            </a:r>
            <a:endParaRPr sz="1500" b="1" dirty="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❖"/>
            </a:pPr>
            <a:r>
              <a:rPr lang="en" sz="1500" dirty="0">
                <a:solidFill>
                  <a:schemeClr val="dk1"/>
                </a:solidFill>
              </a:rPr>
              <a:t>Standardized column formats (e.g., </a:t>
            </a:r>
            <a:r>
              <a:rPr lang="en" sz="1500" b="1" dirty="0">
                <a:solidFill>
                  <a:schemeClr val="dk1"/>
                </a:solidFill>
              </a:rPr>
              <a:t>dates</a:t>
            </a:r>
            <a:r>
              <a:rPr lang="en" sz="1500" dirty="0">
                <a:solidFill>
                  <a:schemeClr val="dk1"/>
                </a:solidFill>
              </a:rPr>
              <a:t>, </a:t>
            </a:r>
            <a:r>
              <a:rPr lang="en" sz="1500" b="1" dirty="0">
                <a:solidFill>
                  <a:schemeClr val="dk1"/>
                </a:solidFill>
              </a:rPr>
              <a:t>numerical fields</a:t>
            </a:r>
            <a:r>
              <a:rPr lang="en" sz="1500" dirty="0">
                <a:solidFill>
                  <a:schemeClr val="dk1"/>
                </a:solidFill>
              </a:rPr>
              <a:t>)</a:t>
            </a:r>
            <a:endParaRPr sz="1500" dirty="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❖"/>
            </a:pPr>
            <a:r>
              <a:rPr lang="en" sz="1500" dirty="0">
                <a:solidFill>
                  <a:schemeClr val="dk1"/>
                </a:solidFill>
              </a:rPr>
              <a:t>Created </a:t>
            </a:r>
            <a:r>
              <a:rPr lang="en" sz="1500" b="1" dirty="0">
                <a:solidFill>
                  <a:schemeClr val="dk1"/>
                </a:solidFill>
              </a:rPr>
              <a:t>calculated fields</a:t>
            </a:r>
            <a:r>
              <a:rPr lang="en" sz="1500" dirty="0">
                <a:solidFill>
                  <a:schemeClr val="dk1"/>
                </a:solidFill>
              </a:rPr>
              <a:t> like:</a:t>
            </a:r>
            <a:br>
              <a:rPr lang="en" sz="1500" dirty="0">
                <a:solidFill>
                  <a:schemeClr val="dk1"/>
                </a:solidFill>
              </a:rPr>
            </a:br>
            <a:r>
              <a:rPr lang="en" sz="1500" dirty="0">
                <a:solidFill>
                  <a:schemeClr val="dk1"/>
                </a:solidFill>
              </a:rPr>
              <a:t> ▸ </a:t>
            </a:r>
            <a:r>
              <a:rPr lang="en" sz="1500" i="1" dirty="0">
                <a:solidFill>
                  <a:schemeClr val="dk1"/>
                </a:solidFill>
              </a:rPr>
              <a:t>House Age = 2026 - yr_built</a:t>
            </a:r>
            <a:br>
              <a:rPr lang="en" sz="1500" i="1" dirty="0">
                <a:solidFill>
                  <a:schemeClr val="dk1"/>
                </a:solidFill>
              </a:rPr>
            </a:br>
            <a:r>
              <a:rPr lang="en" sz="1500" dirty="0">
                <a:solidFill>
                  <a:schemeClr val="dk1"/>
                </a:solidFill>
              </a:rPr>
              <a:t> ▸ </a:t>
            </a:r>
            <a:r>
              <a:rPr lang="en" sz="1500" i="1" dirty="0">
                <a:solidFill>
                  <a:schemeClr val="dk1"/>
                </a:solidFill>
              </a:rPr>
              <a:t>Years Since Renovation = 2026 - yr_renovated</a:t>
            </a:r>
            <a:endParaRPr sz="1500" i="1" dirty="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❖"/>
            </a:pPr>
            <a:r>
              <a:rPr lang="en" sz="1500" dirty="0">
                <a:solidFill>
                  <a:schemeClr val="dk1"/>
                </a:solidFill>
              </a:rPr>
              <a:t>Renamed confusing or inconsistent column names for clarity</a:t>
            </a:r>
            <a:endParaRPr sz="1500" dirty="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❖"/>
            </a:pPr>
            <a:r>
              <a:rPr lang="en" sz="1500" dirty="0">
                <a:solidFill>
                  <a:schemeClr val="dk1"/>
                </a:solidFill>
              </a:rPr>
              <a:t>Filtered irrelevant records (e.g., zero bedroom/floor houses)</a:t>
            </a:r>
            <a:endParaRPr sz="1500" dirty="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❖"/>
            </a:pPr>
            <a:r>
              <a:rPr lang="en" sz="1500" dirty="0">
                <a:solidFill>
                  <a:schemeClr val="dk1"/>
                </a:solidFill>
              </a:rPr>
              <a:t>Ensured data is structured and ready for meaningful visualization in Tableau</a:t>
            </a:r>
            <a:endParaRPr sz="15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65"/>
          <p:cNvSpPr txBox="1">
            <a:spLocks noGrp="1"/>
          </p:cNvSpPr>
          <p:nvPr>
            <p:ph type="subTitle" idx="1"/>
          </p:nvPr>
        </p:nvSpPr>
        <p:spPr>
          <a:xfrm>
            <a:off x="323528" y="356562"/>
            <a:ext cx="29829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600" dirty="0">
                <a:solidFill>
                  <a:schemeClr val="dk1"/>
                </a:solidFill>
                <a:latin typeface="Arial"/>
                <a:cs typeface="Arial"/>
                <a:sym typeface="Arial"/>
              </a:rPr>
              <a:t>Visualizations</a:t>
            </a:r>
            <a:endParaRPr sz="2600" dirty="0">
              <a:solidFill>
                <a:schemeClr val="dk1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24" name="Google Shape;524;p65"/>
          <p:cNvSpPr txBox="1"/>
          <p:nvPr/>
        </p:nvSpPr>
        <p:spPr>
          <a:xfrm>
            <a:off x="323528" y="880864"/>
            <a:ext cx="30000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/>
              <a:t>House Age vs Features</a:t>
            </a:r>
            <a:endParaRPr sz="1600" b="1" dirty="0"/>
          </a:p>
        </p:txBody>
      </p:sp>
      <p:sp>
        <p:nvSpPr>
          <p:cNvPr id="526" name="Google Shape;526;p65"/>
          <p:cNvSpPr txBox="1"/>
          <p:nvPr/>
        </p:nvSpPr>
        <p:spPr>
          <a:xfrm>
            <a:off x="323528" y="1224432"/>
            <a:ext cx="2232248" cy="1692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Displays how house age correlates with the number of bathrooms, bedrooms, and floors—highlighting which features influence housing age the most.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38327A-EFAE-781E-FB4B-1C4078E2F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1942" y="987574"/>
            <a:ext cx="6137063" cy="3674563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66"/>
          <p:cNvSpPr txBox="1"/>
          <p:nvPr/>
        </p:nvSpPr>
        <p:spPr>
          <a:xfrm>
            <a:off x="272730" y="483518"/>
            <a:ext cx="3942626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None/>
            </a:lvl1pPr>
          </a:lstStyle>
          <a:p>
            <a:r>
              <a:rPr lang="en" sz="1600" b="1" dirty="0"/>
              <a:t>Total Sales by Years Since Renovation</a:t>
            </a:r>
            <a:endParaRPr sz="1600" b="1" dirty="0"/>
          </a:p>
        </p:txBody>
      </p:sp>
      <p:sp>
        <p:nvSpPr>
          <p:cNvPr id="534" name="Google Shape;534;p66"/>
          <p:cNvSpPr txBox="1"/>
          <p:nvPr/>
        </p:nvSpPr>
        <p:spPr>
          <a:xfrm>
            <a:off x="272730" y="1094453"/>
            <a:ext cx="2430458" cy="147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Bar chart shows how recent renovations impact house sale prices—newly renovated homes have higher sales counts in specific price bins.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9036DC-B3A1-BCD8-136D-46A6D4E6C1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808" y="1011476"/>
            <a:ext cx="6069394" cy="3656185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67"/>
          <p:cNvSpPr txBox="1"/>
          <p:nvPr/>
        </p:nvSpPr>
        <p:spPr>
          <a:xfrm>
            <a:off x="540200" y="483518"/>
            <a:ext cx="5039912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/>
              <a:t>Distribution of House Age by Renovation Status</a:t>
            </a:r>
            <a:endParaRPr sz="1600" b="1" dirty="0"/>
          </a:p>
        </p:txBody>
      </p:sp>
      <p:sp>
        <p:nvSpPr>
          <p:cNvPr id="541" name="Google Shape;541;p67"/>
          <p:cNvSpPr txBox="1"/>
          <p:nvPr/>
        </p:nvSpPr>
        <p:spPr>
          <a:xfrm>
            <a:off x="540200" y="1241132"/>
            <a:ext cx="2447624" cy="147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Pie chart illustrates the spread of house age grouped by whether they’ve been renovated, helping identify market trends across age categories.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C771F4-1023-F352-A136-AA351563A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4243" y="1102453"/>
            <a:ext cx="5929074" cy="3568567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68"/>
          <p:cNvSpPr txBox="1"/>
          <p:nvPr/>
        </p:nvSpPr>
        <p:spPr>
          <a:xfrm>
            <a:off x="272425" y="368750"/>
            <a:ext cx="3534600" cy="621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b="1" dirty="0"/>
              <a:t>Overall Dataset Summary</a:t>
            </a:r>
            <a:endParaRPr b="1" dirty="0">
              <a:solidFill>
                <a:schemeClr val="dk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24C94B-3488-501D-F006-2C2920342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2699" y="915566"/>
            <a:ext cx="5228876" cy="3735581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E015E81-12B0-E779-7380-2CF5A9C2999B}"/>
              </a:ext>
            </a:extLst>
          </p:cNvPr>
          <p:cNvSpPr txBox="1"/>
          <p:nvPr/>
        </p:nvSpPr>
        <p:spPr>
          <a:xfrm>
            <a:off x="294773" y="1203598"/>
            <a:ext cx="2837067" cy="1959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</a:rPr>
              <a:t>Summary metrics include:</a:t>
            </a: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dirty="0">
                <a:solidFill>
                  <a:schemeClr val="dk1"/>
                </a:solidFill>
              </a:rPr>
              <a:t>Total data points analyzed: </a:t>
            </a:r>
            <a:r>
              <a:rPr lang="en-US" b="1" dirty="0">
                <a:solidFill>
                  <a:schemeClr val="dk1"/>
                </a:solidFill>
              </a:rPr>
              <a:t>21,609</a:t>
            </a: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dirty="0">
                <a:solidFill>
                  <a:schemeClr val="dk1"/>
                </a:solidFill>
              </a:rPr>
              <a:t>Basement Area (</a:t>
            </a:r>
            <a:r>
              <a:rPr lang="en-US" dirty="0" err="1">
                <a:solidFill>
                  <a:schemeClr val="dk1"/>
                </a:solidFill>
              </a:rPr>
              <a:t>sqft</a:t>
            </a:r>
            <a:r>
              <a:rPr lang="en-US" dirty="0">
                <a:solidFill>
                  <a:schemeClr val="dk1"/>
                </a:solidFill>
              </a:rPr>
              <a:t>): </a:t>
            </a:r>
            <a:r>
              <a:rPr lang="en-US" b="1" dirty="0">
                <a:solidFill>
                  <a:schemeClr val="dk1"/>
                </a:solidFill>
              </a:rPr>
              <a:t>38,64,798</a:t>
            </a: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dirty="0">
                <a:solidFill>
                  <a:schemeClr val="dk1"/>
                </a:solidFill>
              </a:rPr>
              <a:t>Average Sale Price: </a:t>
            </a:r>
            <a:r>
              <a:rPr lang="en-US" b="1" dirty="0">
                <a:solidFill>
                  <a:schemeClr val="dk1"/>
                </a:solidFill>
              </a:rPr>
              <a:t>₹511,619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69"/>
          <p:cNvSpPr txBox="1">
            <a:spLocks noGrp="1"/>
          </p:cNvSpPr>
          <p:nvPr>
            <p:ph type="subTitle" idx="1"/>
          </p:nvPr>
        </p:nvSpPr>
        <p:spPr>
          <a:xfrm>
            <a:off x="871471" y="290581"/>
            <a:ext cx="2085600" cy="5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600" dirty="0">
                <a:latin typeface="Arial"/>
                <a:ea typeface="Arial"/>
                <a:cs typeface="Arial"/>
                <a:sym typeface="Arial"/>
              </a:rPr>
              <a:t>Dashboard</a:t>
            </a:r>
            <a:endParaRPr sz="2600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381C0E-5C89-BC98-75F2-8A8615BA96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7784" y="915566"/>
            <a:ext cx="6375172" cy="3833740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70"/>
          <p:cNvSpPr txBox="1">
            <a:spLocks noGrp="1"/>
          </p:cNvSpPr>
          <p:nvPr>
            <p:ph type="subTitle" idx="1"/>
          </p:nvPr>
        </p:nvSpPr>
        <p:spPr>
          <a:xfrm>
            <a:off x="437950" y="1165275"/>
            <a:ext cx="75381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 creating the dashboard, it is published on </a:t>
            </a:r>
            <a:r>
              <a:rPr lang="en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Tableau Public</a:t>
            </a: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wider access.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step explains how users can view, share, or embed the dashboard online.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📌 </a:t>
            </a:r>
            <a:r>
              <a:rPr lang="en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Steps:</a:t>
            </a:r>
            <a:endParaRPr sz="15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Publish to Tableau Public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Generate shareable link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Export charts as images or PDFs (if needed)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000"/>
              </a:spcAft>
              <a:buNone/>
            </a:pP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70"/>
          <p:cNvSpPr txBox="1">
            <a:spLocks noGrp="1"/>
          </p:cNvSpPr>
          <p:nvPr>
            <p:ph type="title"/>
          </p:nvPr>
        </p:nvSpPr>
        <p:spPr>
          <a:xfrm>
            <a:off x="313950" y="409800"/>
            <a:ext cx="208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Arial"/>
                <a:ea typeface="Arial"/>
                <a:cs typeface="Arial"/>
                <a:sym typeface="Arial"/>
              </a:rPr>
              <a:t>Publishing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71"/>
          <p:cNvSpPr txBox="1">
            <a:spLocks noGrp="1"/>
          </p:cNvSpPr>
          <p:nvPr>
            <p:ph type="subTitle" idx="4294967295"/>
          </p:nvPr>
        </p:nvSpPr>
        <p:spPr>
          <a:xfrm>
            <a:off x="734275" y="1200525"/>
            <a:ext cx="7922700" cy="313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1400"/>
              </a:spcBef>
              <a:buClr>
                <a:schemeClr val="dk1"/>
              </a:buClr>
              <a:buSzPts val="1100"/>
              <a:buNone/>
            </a:pPr>
            <a:r>
              <a:rPr lang="en" sz="2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Advantages</a:t>
            </a:r>
            <a:endParaRPr sz="26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Interactive Dashboards:</a:t>
            </a:r>
            <a:r>
              <a:rPr lang="e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Users can filter by house age, renovation, and price for                personalized insights.</a:t>
            </a:r>
            <a:endParaRPr sz="15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Simplified Analysis:</a:t>
            </a:r>
            <a:r>
              <a:rPr lang="e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Visuals make complex housing data easy to understand.</a:t>
            </a:r>
            <a:endParaRPr sz="15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Supports Decisions:</a:t>
            </a:r>
            <a:r>
              <a:rPr lang="e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Helps real estate teams make pricing and marketing decisions.</a:t>
            </a:r>
            <a:endParaRPr sz="15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Web-Friendly:</a:t>
            </a:r>
            <a:r>
              <a:rPr lang="e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Dashboards can be published or embedded online.</a:t>
            </a:r>
            <a:endParaRPr sz="15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Scalable Design:</a:t>
            </a:r>
            <a:r>
              <a:rPr lang="e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Can be extended with new data or integrated with future tools.</a:t>
            </a:r>
            <a:br>
              <a:rPr lang="e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72"/>
          <p:cNvSpPr txBox="1">
            <a:spLocks noGrp="1"/>
          </p:cNvSpPr>
          <p:nvPr>
            <p:ph type="subTitle" idx="4294967295"/>
          </p:nvPr>
        </p:nvSpPr>
        <p:spPr>
          <a:xfrm>
            <a:off x="1027500" y="1270975"/>
            <a:ext cx="7089000" cy="28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Disadvantages</a:t>
            </a:r>
            <a:endParaRPr sz="26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Static Data Risk:</a:t>
            </a:r>
            <a:r>
              <a:rPr lang="e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Insights depend on updated CSV uploads.</a:t>
            </a:r>
            <a:endParaRPr sz="15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Limited Prediction Support:</a:t>
            </a:r>
            <a:r>
              <a:rPr lang="e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Tableau is not ideal for advanced ML or forecasting.</a:t>
            </a:r>
            <a:endParaRPr sz="15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Initial Learning Curve:</a:t>
            </a:r>
            <a:r>
              <a:rPr lang="e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Non-technical users may need guidance.</a:t>
            </a:r>
            <a:endParaRPr sz="15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Performance Issues:</a:t>
            </a:r>
            <a:r>
              <a:rPr lang="e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Very large datasets may slow performance.</a:t>
            </a:r>
            <a:endParaRPr sz="15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50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73"/>
          <p:cNvSpPr txBox="1">
            <a:spLocks noGrp="1"/>
          </p:cNvSpPr>
          <p:nvPr>
            <p:ph type="subTitle" idx="1"/>
          </p:nvPr>
        </p:nvSpPr>
        <p:spPr>
          <a:xfrm>
            <a:off x="1027025" y="559775"/>
            <a:ext cx="2475300" cy="62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Arial"/>
                <a:ea typeface="Arial"/>
                <a:cs typeface="Arial"/>
                <a:sym typeface="Arial"/>
              </a:rPr>
              <a:t>Conclusion</a:t>
            </a:r>
            <a:endParaRPr sz="2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73"/>
          <p:cNvSpPr txBox="1"/>
          <p:nvPr/>
        </p:nvSpPr>
        <p:spPr>
          <a:xfrm>
            <a:off x="728075" y="1357525"/>
            <a:ext cx="7635300" cy="28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This project provides a comprehensive view of housing market trends through interactive Tableau dashboards.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It simplifies raw housing data into insightful visuals for real estate decision-making.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Stakeholders can explore trends by </a:t>
            </a:r>
            <a:r>
              <a:rPr lang="en" sz="1500" b="1">
                <a:solidFill>
                  <a:schemeClr val="dk1"/>
                </a:solidFill>
              </a:rPr>
              <a:t>sale price</a:t>
            </a:r>
            <a:r>
              <a:rPr lang="en" sz="1500">
                <a:solidFill>
                  <a:schemeClr val="dk1"/>
                </a:solidFill>
              </a:rPr>
              <a:t>, </a:t>
            </a:r>
            <a:r>
              <a:rPr lang="en" sz="1500" b="1">
                <a:solidFill>
                  <a:schemeClr val="dk1"/>
                </a:solidFill>
              </a:rPr>
              <a:t>renovation year</a:t>
            </a:r>
            <a:r>
              <a:rPr lang="en" sz="1500">
                <a:solidFill>
                  <a:schemeClr val="dk1"/>
                </a:solidFill>
              </a:rPr>
              <a:t>, </a:t>
            </a:r>
            <a:r>
              <a:rPr lang="en" sz="1500" b="1">
                <a:solidFill>
                  <a:schemeClr val="dk1"/>
                </a:solidFill>
              </a:rPr>
              <a:t>house age</a:t>
            </a:r>
            <a:r>
              <a:rPr lang="en" sz="1500">
                <a:solidFill>
                  <a:schemeClr val="dk1"/>
                </a:solidFill>
              </a:rPr>
              <a:t>, and more.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The project enhances </a:t>
            </a:r>
            <a:r>
              <a:rPr lang="en" sz="1500" b="1">
                <a:solidFill>
                  <a:schemeClr val="dk1"/>
                </a:solidFill>
              </a:rPr>
              <a:t>data-driven strategies</a:t>
            </a:r>
            <a:r>
              <a:rPr lang="en" sz="1500">
                <a:solidFill>
                  <a:schemeClr val="dk1"/>
                </a:solidFill>
              </a:rPr>
              <a:t> for marketing, pricing, and customer targeting.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With web integration and future expansion possibilities, this solution is both </a:t>
            </a:r>
            <a:r>
              <a:rPr lang="en" sz="1500" b="1">
                <a:solidFill>
                  <a:schemeClr val="dk1"/>
                </a:solidFill>
              </a:rPr>
              <a:t>scalable</a:t>
            </a:r>
            <a:r>
              <a:rPr lang="en" sz="1500">
                <a:solidFill>
                  <a:schemeClr val="dk1"/>
                </a:solidFill>
              </a:rPr>
              <a:t> and </a:t>
            </a:r>
            <a:r>
              <a:rPr lang="en" sz="1500" b="1">
                <a:solidFill>
                  <a:schemeClr val="dk1"/>
                </a:solidFill>
              </a:rPr>
              <a:t>impactful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640</Words>
  <Application>Microsoft Office PowerPoint</Application>
  <PresentationFormat>On-screen Show (16:9)</PresentationFormat>
  <Paragraphs>64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Lato</vt:lpstr>
      <vt:lpstr>Arial</vt:lpstr>
      <vt:lpstr>Vidaloka</vt:lpstr>
      <vt:lpstr>Verdana</vt:lpstr>
      <vt:lpstr>Crimson Text</vt:lpstr>
      <vt:lpstr>Montserrat</vt:lpstr>
      <vt:lpstr>Minimalist Business Slides XL by Slidesgo</vt:lpstr>
      <vt:lpstr>Project Title              Visualizing Housing Market Trends:  An Analysis of Sale Prices and Features using Tableau</vt:lpstr>
      <vt:lpstr>Objective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Publishing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              Visualizing Housing Market Trends:  An Analysis of Sale Prices and Features using Tableau</dc:title>
  <dc:creator>Hema0</dc:creator>
  <cp:lastModifiedBy>Utkarsh Sahu</cp:lastModifiedBy>
  <cp:revision>4</cp:revision>
  <dcterms:modified xsi:type="dcterms:W3CDTF">2026-03-08T00:19:30Z</dcterms:modified>
</cp:coreProperties>
</file>